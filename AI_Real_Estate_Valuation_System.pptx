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R² Score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Linear Regression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0.7148</c:v>
                </c:pt>
                <c:pt idx="1">
                  <c:v>0.7846</c:v>
                </c:pt>
                <c:pt idx="2">
                  <c:v>0.8561</c:v>
                </c:pt>
                <c:pt idx="3">
                  <c:v>0.8986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Accuracy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Linear Reg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XGBoost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79.19</c:v>
                </c:pt>
                <c:pt idx="1">
                  <c:v>83.28</c:v>
                </c:pt>
                <c:pt idx="2">
                  <c:v>86.96</c:v>
                </c:pt>
                <c:pt idx="3">
                  <c:v>88.19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grade_condition_score</c:v>
                  </c:pt>
                  <c:pt idx="1">
                    <c:v>sqft_living</c:v>
                  </c:pt>
                  <c:pt idx="2">
                    <c:v>total_area</c:v>
                  </c:pt>
                  <c:pt idx="3">
                    <c:v>grade</c:v>
                  </c:pt>
                  <c:pt idx="4">
                    <c:v>sqft_above</c:v>
                  </c:pt>
                  <c:pt idx="5">
                    <c:v>sqft_living15</c:v>
                  </c:pt>
                  <c:pt idx="6">
                    <c:v>is_luxury</c:v>
                  </c:pt>
                  <c:pt idx="7">
                    <c:v>area_per_bedroom</c:v>
                  </c:pt>
                  <c:pt idx="8">
                    <c:v>bathrooms</c:v>
                  </c:pt>
                  <c:pt idx="9">
                    <c:v>living_vs_neighbors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0.182</c:v>
                </c:pt>
                <c:pt idx="1">
                  <c:v>0.165</c:v>
                </c:pt>
                <c:pt idx="2">
                  <c:v>0.142</c:v>
                </c:pt>
                <c:pt idx="3">
                  <c:v>0.098</c:v>
                </c:pt>
                <c:pt idx="4">
                  <c:v>0.078</c:v>
                </c:pt>
                <c:pt idx="5">
                  <c:v>0.065</c:v>
                </c:pt>
                <c:pt idx="6">
                  <c:v>0.048</c:v>
                </c:pt>
                <c:pt idx="7">
                  <c:v>0.038</c:v>
                </c:pt>
                <c:pt idx="8">
                  <c:v>0.032</c:v>
                </c:pt>
                <c:pt idx="9">
                  <c:v>0.028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0A3D5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21B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image" Target="../media/image-6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image" Target="../media/image-9-21.png"/><Relationship Id="rId22" Type="http://schemas.openxmlformats.org/officeDocument/2006/relationships/image" Target="../media/image-9-22.png"/><Relationship Id="rId23" Type="http://schemas.openxmlformats.org/officeDocument/2006/relationships/image" Target="../media/image-9-23.png"/><Relationship Id="rId24" Type="http://schemas.openxmlformats.org/officeDocument/2006/relationships/image" Target="../media/image-9-24.png"/><Relationship Id="rId25" Type="http://schemas.openxmlformats.org/officeDocument/2006/relationships/image" Target="../media/image-9-25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4572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9144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Real Estate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16916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System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731520" y="2542032"/>
            <a:ext cx="50292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6517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XGBoost, Random Forest &amp; Supervised Learning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3246120"/>
            <a:ext cx="1828800" cy="347472"/>
          </a:xfrm>
          <a:prstGeom prst="rect">
            <a:avLst/>
          </a:prstGeom>
          <a:solidFill>
            <a:srgbClr val="0A3D5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246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8 Datasets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0" y="3246120"/>
            <a:ext cx="1828800" cy="347472"/>
          </a:xfrm>
          <a:prstGeom prst="rect">
            <a:avLst/>
          </a:prstGeom>
          <a:solidFill>
            <a:srgbClr val="0A3D5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0" y="3246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41 Features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3246120"/>
            <a:ext cx="1828800" cy="347472"/>
          </a:xfrm>
          <a:prstGeom prst="rect">
            <a:avLst/>
          </a:prstGeom>
          <a:solidFill>
            <a:srgbClr val="0A3D5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3246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88.19% Accuracy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766560" y="3246120"/>
            <a:ext cx="1828800" cy="347472"/>
          </a:xfrm>
          <a:prstGeom prst="rect">
            <a:avLst/>
          </a:prstGeom>
          <a:solidFill>
            <a:srgbClr val="0A3D5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66560" y="3246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Streamlit UI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India + Global Market Intelligence  |  VS Code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143000"/>
            <a:ext cx="384048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143000"/>
            <a:ext cx="64008" cy="1463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188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house prices is complex — influenced by location, size, number of rooms, and economic conditions. Traditional methods fail to estimate prices accurately.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143000"/>
            <a:ext cx="4480560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9120" y="1143000"/>
            <a:ext cx="64008" cy="1463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0" y="11887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0" y="15544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ML system trained on 8 datasets — India property data, King County housing, and global price indices — to predict house prices with 88%+ accuracy.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283464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60120" y="2907792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944368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0040" y="3538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Data Collection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20040" y="3840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8 datasets merged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into one pipeline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2468880" y="283464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154680" y="2907792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944368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514600" y="3538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ML Modeling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2514600" y="3840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4 algorithms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trained &amp; compared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663440" y="283464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349240" y="2907792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944368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709160" y="3538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Web App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709160" y="3840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Streamlit UI for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real-time prediction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858000" y="283464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543800" y="2907792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2944368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03720" y="35387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High Accuracy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6903720" y="3840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XGBoost R²=0.8986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88.19% accuracy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Datasets Used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4206240" cy="804672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97280"/>
            <a:ext cx="6400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15214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House_Price_India.csv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15179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Primary Training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0" y="1207008"/>
            <a:ext cx="10972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12070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14,620 rows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" y="2057400"/>
            <a:ext cx="4206240" cy="804672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057400"/>
            <a:ext cx="6400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1122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house_prices.csv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24780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Primary Training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00400" y="2167128"/>
            <a:ext cx="10972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0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21,613 rows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" y="3017520"/>
            <a:ext cx="4206240" cy="804672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3017520"/>
            <a:ext cx="64008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0723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Housing.csv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57200" y="34381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</a:rPr>
              <a:t>Supplemental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00400" y="3127248"/>
            <a:ext cx="10972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0400" y="31272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21,613 rows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74320" y="3977640"/>
            <a:ext cx="4206240" cy="804672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3977640"/>
            <a:ext cx="64008" cy="80467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0325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housing_price_index.csv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4398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842"/>
                </a:solidFill>
              </a:rPr>
              <a:t>India Market Index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200400" y="4087368"/>
            <a:ext cx="10972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00400" y="4087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7 rows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846320" y="1097280"/>
            <a:ext cx="4206240" cy="804672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846320" y="1097280"/>
            <a:ext cx="64008" cy="8046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29200" y="115214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nominal_index.csv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029200" y="15179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Global Trend (Q)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772400" y="1207008"/>
            <a:ext cx="10972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772400" y="12070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23,994 rows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846320" y="2057400"/>
            <a:ext cx="4206240" cy="804672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846320" y="2057400"/>
            <a:ext cx="64008" cy="8046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29200" y="21122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nominal_year.csv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5029200" y="24780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</a:rPr>
              <a:t>Global Trend (Y)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7772400" y="2167128"/>
            <a:ext cx="10972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772400" y="2167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23,994 rows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846320" y="3017520"/>
            <a:ext cx="4206240" cy="804672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846320" y="3017520"/>
            <a:ext cx="64008" cy="80467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029200" y="30723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real_index.csv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5029200" y="34381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</a:rPr>
              <a:t>Real Index (Q)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7772400" y="3127248"/>
            <a:ext cx="10972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772400" y="31272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23,994 rows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846320" y="3977640"/>
            <a:ext cx="4206240" cy="804672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4846320" y="3977640"/>
            <a:ext cx="64008" cy="80467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029200" y="40325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real_year.csv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5029200" y="4398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</a:rPr>
              <a:t>Real Index (Y)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7772400" y="4087368"/>
            <a:ext cx="1097280" cy="2560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772400" y="4087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23,994 rows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 —  41 Features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28600" y="10972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1097280"/>
            <a:ext cx="416052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115214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Property Features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600200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2648" y="16002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sqft_living, sqft_lot, sqft_above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1847088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2648" y="18470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bedrooms, bathrooms, floors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2093976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12648" y="20939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grade, condition, view, waterfront</a:t>
            </a:r>
            <a:endParaRPr lang="en-US" sz="9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2340864"/>
            <a:ext cx="201168" cy="20116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12648" y="2340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yr_built, yr_renovated, zipcode</a:t>
            </a:r>
            <a:endParaRPr lang="en-US" sz="9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" y="2587752"/>
            <a:ext cx="201168" cy="20116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12648" y="2587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lat, long (geolocation)</a:t>
            </a:r>
            <a:endParaRPr lang="en-US" sz="950" dirty="0"/>
          </a:p>
        </p:txBody>
      </p:sp>
      <p:sp>
        <p:nvSpPr>
          <p:cNvPr id="19" name="Shape 10"/>
          <p:cNvSpPr/>
          <p:nvPr/>
        </p:nvSpPr>
        <p:spPr>
          <a:xfrm>
            <a:off x="4709160" y="109728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1"/>
          <p:cNvSpPr/>
          <p:nvPr/>
        </p:nvSpPr>
        <p:spPr>
          <a:xfrm>
            <a:off x="4709160" y="1097280"/>
            <a:ext cx="416052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1143000"/>
            <a:ext cx="320040" cy="32004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212080" y="115214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India-Specific Features</a:t>
            </a:r>
            <a:endParaRPr lang="en-US" sz="11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8888" y="1600200"/>
            <a:ext cx="201168" cy="20116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093208" y="16002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schools_nearby</a:t>
            </a:r>
            <a:endParaRPr lang="en-US" sz="95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8888" y="1847088"/>
            <a:ext cx="201168" cy="201168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093208" y="18470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airport_distance</a:t>
            </a:r>
            <a:endParaRPr lang="en-US" sz="950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8888" y="2093976"/>
            <a:ext cx="201168" cy="201168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5093208" y="20939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india_price_index</a:t>
            </a:r>
            <a:endParaRPr lang="en-US" sz="950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18888" y="2340864"/>
            <a:ext cx="201168" cy="201168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093208" y="2340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india_trend_slope</a:t>
            </a:r>
            <a:endParaRPr lang="en-US" sz="950" dirty="0"/>
          </a:p>
        </p:txBody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18888" y="2587752"/>
            <a:ext cx="201168" cy="201168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5093208" y="2587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is_india_dataset flag</a:t>
            </a:r>
            <a:endParaRPr lang="en-US" sz="950" dirty="0"/>
          </a:p>
        </p:txBody>
      </p:sp>
      <p:sp>
        <p:nvSpPr>
          <p:cNvPr id="33" name="Shape 18"/>
          <p:cNvSpPr/>
          <p:nvPr/>
        </p:nvSpPr>
        <p:spPr>
          <a:xfrm>
            <a:off x="228600" y="306324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19"/>
          <p:cNvSpPr/>
          <p:nvPr/>
        </p:nvSpPr>
        <p:spPr>
          <a:xfrm>
            <a:off x="228600" y="3063240"/>
            <a:ext cx="416052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3108960"/>
            <a:ext cx="320040" cy="320040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731520" y="311810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Engineered Features</a:t>
            </a:r>
            <a:endParaRPr lang="en-US" sz="1100" dirty="0"/>
          </a:p>
        </p:txBody>
      </p:sp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8328" y="3566160"/>
            <a:ext cx="201168" cy="201168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612648" y="3566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house_age, was_renovated</a:t>
            </a:r>
            <a:endParaRPr lang="en-US" sz="950" dirty="0"/>
          </a:p>
        </p:txBody>
      </p:sp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8328" y="3813048"/>
            <a:ext cx="201168" cy="201168"/>
          </a:xfrm>
          <a:prstGeom prst="rect">
            <a:avLst/>
          </a:prstGeom>
        </p:spPr>
      </p:pic>
      <p:sp>
        <p:nvSpPr>
          <p:cNvPr id="40" name="Text 22"/>
          <p:cNvSpPr/>
          <p:nvPr/>
        </p:nvSpPr>
        <p:spPr>
          <a:xfrm>
            <a:off x="612648" y="38130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bath_bed_ratio, basement_ratio</a:t>
            </a:r>
            <a:endParaRPr lang="en-US" sz="950" dirty="0"/>
          </a:p>
        </p:txBody>
      </p:sp>
      <p:pic>
        <p:nvPicPr>
          <p:cNvPr id="4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8328" y="4059936"/>
            <a:ext cx="201168" cy="201168"/>
          </a:xfrm>
          <a:prstGeom prst="rect">
            <a:avLst/>
          </a:prstGeom>
        </p:spPr>
      </p:pic>
      <p:sp>
        <p:nvSpPr>
          <p:cNvPr id="42" name="Text 23"/>
          <p:cNvSpPr/>
          <p:nvPr/>
        </p:nvSpPr>
        <p:spPr>
          <a:xfrm>
            <a:off x="612648" y="40599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area_per_bedroom, area_per_bathroom</a:t>
            </a:r>
            <a:endParaRPr lang="en-US" sz="950" dirty="0"/>
          </a:p>
        </p:txBody>
      </p:sp>
      <p:pic>
        <p:nvPicPr>
          <p:cNvPr id="4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8328" y="4306824"/>
            <a:ext cx="201168" cy="201168"/>
          </a:xfrm>
          <a:prstGeom prst="rect">
            <a:avLst/>
          </a:prstGeom>
        </p:spPr>
      </p:pic>
      <p:sp>
        <p:nvSpPr>
          <p:cNvPr id="44" name="Text 24"/>
          <p:cNvSpPr/>
          <p:nvPr/>
        </p:nvSpPr>
        <p:spPr>
          <a:xfrm>
            <a:off x="612648" y="43068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grade_condition_score</a:t>
            </a:r>
            <a:endParaRPr lang="en-US" sz="950" dirty="0"/>
          </a:p>
        </p:txBody>
      </p:sp>
      <p:pic>
        <p:nvPicPr>
          <p:cNvPr id="4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8328" y="4553712"/>
            <a:ext cx="201168" cy="201168"/>
          </a:xfrm>
          <a:prstGeom prst="rect">
            <a:avLst/>
          </a:prstGeom>
        </p:spPr>
      </p:pic>
      <p:sp>
        <p:nvSpPr>
          <p:cNvPr id="46" name="Text 25"/>
          <p:cNvSpPr/>
          <p:nvPr/>
        </p:nvSpPr>
        <p:spPr>
          <a:xfrm>
            <a:off x="612648" y="45537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is_luxury (grade≥10 &amp; sqft≥3000)</a:t>
            </a:r>
            <a:endParaRPr lang="en-US" sz="950" dirty="0"/>
          </a:p>
        </p:txBody>
      </p:sp>
      <p:sp>
        <p:nvSpPr>
          <p:cNvPr id="47" name="Shape 26"/>
          <p:cNvSpPr/>
          <p:nvPr/>
        </p:nvSpPr>
        <p:spPr>
          <a:xfrm>
            <a:off x="4709160" y="3063240"/>
            <a:ext cx="41605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Shape 27"/>
          <p:cNvSpPr/>
          <p:nvPr/>
        </p:nvSpPr>
        <p:spPr>
          <a:xfrm>
            <a:off x="4709160" y="3063240"/>
            <a:ext cx="4160520" cy="4114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4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00600" y="3108960"/>
            <a:ext cx="320040" cy="320040"/>
          </a:xfrm>
          <a:prstGeom prst="rect">
            <a:avLst/>
          </a:prstGeom>
        </p:spPr>
      </p:pic>
      <p:sp>
        <p:nvSpPr>
          <p:cNvPr id="50" name="Text 28"/>
          <p:cNvSpPr/>
          <p:nvPr/>
        </p:nvSpPr>
        <p:spPr>
          <a:xfrm>
            <a:off x="5212080" y="3118104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Market Trend Features</a:t>
            </a:r>
            <a:endParaRPr lang="en-US" sz="1100" dirty="0"/>
          </a:p>
        </p:txBody>
      </p:sp>
      <p:pic>
        <p:nvPicPr>
          <p:cNvPr id="5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18888" y="3566160"/>
            <a:ext cx="201168" cy="201168"/>
          </a:xfrm>
          <a:prstGeom prst="rect">
            <a:avLst/>
          </a:prstGeom>
        </p:spPr>
      </p:pic>
      <p:sp>
        <p:nvSpPr>
          <p:cNvPr id="52" name="Text 29"/>
          <p:cNvSpPr/>
          <p:nvPr/>
        </p:nvSpPr>
        <p:spPr>
          <a:xfrm>
            <a:off x="5093208" y="3566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global_nominal_avg</a:t>
            </a:r>
            <a:endParaRPr lang="en-US" sz="950" dirty="0"/>
          </a:p>
        </p:txBody>
      </p:sp>
      <p:pic>
        <p:nvPicPr>
          <p:cNvPr id="5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18888" y="3813048"/>
            <a:ext cx="201168" cy="201168"/>
          </a:xfrm>
          <a:prstGeom prst="rect">
            <a:avLst/>
          </a:prstGeom>
        </p:spPr>
      </p:pic>
      <p:sp>
        <p:nvSpPr>
          <p:cNvPr id="54" name="Text 30"/>
          <p:cNvSpPr/>
          <p:nvPr/>
        </p:nvSpPr>
        <p:spPr>
          <a:xfrm>
            <a:off x="5093208" y="38130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global_real_avg</a:t>
            </a:r>
            <a:endParaRPr lang="en-US" sz="950" dirty="0"/>
          </a:p>
        </p:txBody>
      </p:sp>
      <p:pic>
        <p:nvPicPr>
          <p:cNvPr id="5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18888" y="4059936"/>
            <a:ext cx="201168" cy="201168"/>
          </a:xfrm>
          <a:prstGeom prst="rect">
            <a:avLst/>
          </a:prstGeom>
        </p:spPr>
      </p:pic>
      <p:sp>
        <p:nvSpPr>
          <p:cNvPr id="56" name="Text 31"/>
          <p:cNvSpPr/>
          <p:nvPr/>
        </p:nvSpPr>
        <p:spPr>
          <a:xfrm>
            <a:off x="5093208" y="40599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global_yoy_change</a:t>
            </a:r>
            <a:endParaRPr lang="en-US" sz="950" dirty="0"/>
          </a:p>
        </p:txBody>
      </p:sp>
      <p:pic>
        <p:nvPicPr>
          <p:cNvPr id="5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18888" y="4306824"/>
            <a:ext cx="201168" cy="201168"/>
          </a:xfrm>
          <a:prstGeom prst="rect">
            <a:avLst/>
          </a:prstGeom>
        </p:spPr>
      </p:pic>
      <p:sp>
        <p:nvSpPr>
          <p:cNvPr id="58" name="Text 32"/>
          <p:cNvSpPr/>
          <p:nvPr/>
        </p:nvSpPr>
        <p:spPr>
          <a:xfrm>
            <a:off x="5093208" y="43068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living_vs_neighbors</a:t>
            </a:r>
            <a:endParaRPr lang="en-US" sz="950" dirty="0"/>
          </a:p>
        </p:txBody>
      </p:sp>
      <p:pic>
        <p:nvPicPr>
          <p:cNvPr id="59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818888" y="4553712"/>
            <a:ext cx="201168" cy="201168"/>
          </a:xfrm>
          <a:prstGeom prst="rect">
            <a:avLst/>
          </a:prstGeom>
        </p:spPr>
      </p:pic>
      <p:sp>
        <p:nvSpPr>
          <p:cNvPr id="60" name="Text 33"/>
          <p:cNvSpPr/>
          <p:nvPr/>
        </p:nvSpPr>
        <p:spPr>
          <a:xfrm>
            <a:off x="5093208" y="45537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</a:rPr>
              <a:t>lot_vs_neighbors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Pipeline  —  4 Steps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82880" y="1097280"/>
            <a:ext cx="2103120" cy="374904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82880" y="1097280"/>
            <a:ext cx="21031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1155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1B2E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49808" y="113385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1B2E"/>
                </a:solidFill>
              </a:rPr>
              <a:t>Data Preprocessing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74320" y="16093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2C39A"/>
                </a:solidFill>
              </a:rPr>
              <a:t>Weeks 1–2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193852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" y="1938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Load all 8 CSV datasets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45973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6928" y="24597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Standardize &amp; merge columns</a:t>
            </a:r>
            <a:endParaRPr lang="en-US" sz="9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298094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66928" y="298094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Handle missing values &amp; outliers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3502152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66928" y="35021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Extract macro trend features</a:t>
            </a:r>
            <a:endParaRPr lang="en-US" sz="9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08" y="4023360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66928" y="4023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Save processed_dataset.csv</a:t>
            </a:r>
            <a:endParaRPr lang="en-US" sz="900" dirty="0"/>
          </a:p>
        </p:txBody>
      </p:sp>
      <p:sp>
        <p:nvSpPr>
          <p:cNvPr id="20" name="Shape 12"/>
          <p:cNvSpPr/>
          <p:nvPr/>
        </p:nvSpPr>
        <p:spPr>
          <a:xfrm>
            <a:off x="2286000" y="2834640"/>
            <a:ext cx="13716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2423160" y="1097280"/>
            <a:ext cx="2103120" cy="374904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2423160" y="1097280"/>
            <a:ext cx="2103120" cy="4572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2514600" y="11155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1B2E"/>
                </a:solidFill>
              </a:rPr>
              <a:t>02</a:t>
            </a:r>
            <a:endParaRPr lang="en-US" sz="2000" dirty="0"/>
          </a:p>
        </p:txBody>
      </p:sp>
      <p:sp>
        <p:nvSpPr>
          <p:cNvPr id="24" name="Text 16"/>
          <p:cNvSpPr/>
          <p:nvPr/>
        </p:nvSpPr>
        <p:spPr>
          <a:xfrm>
            <a:off x="2990088" y="113385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1B2E"/>
                </a:solidFill>
              </a:rPr>
              <a:t>EDA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2514600" y="16093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C842"/>
                </a:solidFill>
              </a:rPr>
              <a:t>Weeks 1–2</a:t>
            </a:r>
            <a:endParaRPr lang="en-US" sz="9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2888" y="1938528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807208" y="1938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Price distribution analysis</a:t>
            </a:r>
            <a:endParaRPr lang="en-US" sz="9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2888" y="2459736"/>
            <a:ext cx="201168" cy="20116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2807208" y="24597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Correlation heatmap</a:t>
            </a:r>
            <a:endParaRPr lang="en-US" sz="9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32888" y="2980944"/>
            <a:ext cx="201168" cy="20116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2807208" y="298094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Price by grade &amp; bedrooms</a:t>
            </a:r>
            <a:endParaRPr lang="en-US" sz="9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32888" y="3502152"/>
            <a:ext cx="201168" cy="20116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2807208" y="35021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Outlier detection</a:t>
            </a:r>
            <a:endParaRPr lang="en-US" sz="90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32888" y="4023360"/>
            <a:ext cx="201168" cy="201168"/>
          </a:xfrm>
          <a:prstGeom prst="rect">
            <a:avLst/>
          </a:prstGeom>
        </p:spPr>
      </p:pic>
      <p:sp>
        <p:nvSpPr>
          <p:cNvPr id="35" name="Text 22"/>
          <p:cNvSpPr/>
          <p:nvPr/>
        </p:nvSpPr>
        <p:spPr>
          <a:xfrm>
            <a:off x="2807208" y="4023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Feature importance insights</a:t>
            </a:r>
            <a:endParaRPr lang="en-US" sz="900" dirty="0"/>
          </a:p>
        </p:txBody>
      </p:sp>
      <p:sp>
        <p:nvSpPr>
          <p:cNvPr id="36" name="Shape 23"/>
          <p:cNvSpPr/>
          <p:nvPr/>
        </p:nvSpPr>
        <p:spPr>
          <a:xfrm>
            <a:off x="4526280" y="2834640"/>
            <a:ext cx="137160" cy="2743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7" name="Shape 24"/>
          <p:cNvSpPr/>
          <p:nvPr/>
        </p:nvSpPr>
        <p:spPr>
          <a:xfrm>
            <a:off x="4663440" y="1097280"/>
            <a:ext cx="2103120" cy="374904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25"/>
          <p:cNvSpPr/>
          <p:nvPr/>
        </p:nvSpPr>
        <p:spPr>
          <a:xfrm>
            <a:off x="4663440" y="1097280"/>
            <a:ext cx="2103120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9" name="Text 26"/>
          <p:cNvSpPr/>
          <p:nvPr/>
        </p:nvSpPr>
        <p:spPr>
          <a:xfrm>
            <a:off x="4754880" y="11155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1B2E"/>
                </a:solidFill>
              </a:rPr>
              <a:t>03</a:t>
            </a:r>
            <a:endParaRPr lang="en-US" sz="2000" dirty="0"/>
          </a:p>
        </p:txBody>
      </p:sp>
      <p:sp>
        <p:nvSpPr>
          <p:cNvPr id="40" name="Text 27"/>
          <p:cNvSpPr/>
          <p:nvPr/>
        </p:nvSpPr>
        <p:spPr>
          <a:xfrm>
            <a:off x="5230368" y="113385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1B2E"/>
                </a:solidFill>
              </a:rPr>
              <a:t>Model Training</a:t>
            </a:r>
            <a:endParaRPr lang="en-US" sz="1050" dirty="0"/>
          </a:p>
        </p:txBody>
      </p:sp>
      <p:sp>
        <p:nvSpPr>
          <p:cNvPr id="41" name="Text 28"/>
          <p:cNvSpPr/>
          <p:nvPr/>
        </p:nvSpPr>
        <p:spPr>
          <a:xfrm>
            <a:off x="4754880" y="16093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78BFA"/>
                </a:solidFill>
              </a:rPr>
              <a:t>Weeks 3–4</a:t>
            </a:r>
            <a:endParaRPr lang="en-US" sz="90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73168" y="1938528"/>
            <a:ext cx="201168" cy="201168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5047488" y="1938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80/20 train-test split</a:t>
            </a:r>
            <a:endParaRPr lang="en-US" sz="9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73168" y="2459736"/>
            <a:ext cx="201168" cy="201168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5047488" y="24597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Train 4 ML models</a:t>
            </a:r>
            <a:endParaRPr lang="en-US" sz="900" dirty="0"/>
          </a:p>
        </p:txBody>
      </p:sp>
      <p:pic>
        <p:nvPicPr>
          <p:cNvPr id="4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73168" y="2980944"/>
            <a:ext cx="201168" cy="201168"/>
          </a:xfrm>
          <a:prstGeom prst="rect">
            <a:avLst/>
          </a:prstGeom>
        </p:spPr>
      </p:pic>
      <p:sp>
        <p:nvSpPr>
          <p:cNvPr id="47" name="Text 31"/>
          <p:cNvSpPr/>
          <p:nvPr/>
        </p:nvSpPr>
        <p:spPr>
          <a:xfrm>
            <a:off x="5047488" y="298094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Log-transform target (price)</a:t>
            </a:r>
            <a:endParaRPr lang="en-US" sz="900" dirty="0"/>
          </a:p>
        </p:txBody>
      </p:sp>
      <p:pic>
        <p:nvPicPr>
          <p:cNvPr id="4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73168" y="3502152"/>
            <a:ext cx="201168" cy="201168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5047488" y="35021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Evaluate: R², RMSE, MAE</a:t>
            </a:r>
            <a:endParaRPr lang="en-US" sz="900" dirty="0"/>
          </a:p>
        </p:txBody>
      </p:sp>
      <p:pic>
        <p:nvPicPr>
          <p:cNvPr id="5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73168" y="4023360"/>
            <a:ext cx="201168" cy="201168"/>
          </a:xfrm>
          <a:prstGeom prst="rect">
            <a:avLst/>
          </a:prstGeom>
        </p:spPr>
      </p:pic>
      <p:sp>
        <p:nvSpPr>
          <p:cNvPr id="51" name="Text 33"/>
          <p:cNvSpPr/>
          <p:nvPr/>
        </p:nvSpPr>
        <p:spPr>
          <a:xfrm>
            <a:off x="5047488" y="4023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Save best model (XGBoost)</a:t>
            </a:r>
            <a:endParaRPr lang="en-US" sz="900" dirty="0"/>
          </a:p>
        </p:txBody>
      </p:sp>
      <p:sp>
        <p:nvSpPr>
          <p:cNvPr id="52" name="Shape 34"/>
          <p:cNvSpPr/>
          <p:nvPr/>
        </p:nvSpPr>
        <p:spPr>
          <a:xfrm>
            <a:off x="6766560" y="2834640"/>
            <a:ext cx="137160" cy="274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3" name="Shape 35"/>
          <p:cNvSpPr/>
          <p:nvPr/>
        </p:nvSpPr>
        <p:spPr>
          <a:xfrm>
            <a:off x="6903720" y="1097280"/>
            <a:ext cx="2103120" cy="374904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Shape 36"/>
          <p:cNvSpPr/>
          <p:nvPr/>
        </p:nvSpPr>
        <p:spPr>
          <a:xfrm>
            <a:off x="6903720" y="1097280"/>
            <a:ext cx="2103120" cy="4572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5" name="Text 37"/>
          <p:cNvSpPr/>
          <p:nvPr/>
        </p:nvSpPr>
        <p:spPr>
          <a:xfrm>
            <a:off x="6995160" y="11155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1B2E"/>
                </a:solidFill>
              </a:rPr>
              <a:t>04</a:t>
            </a:r>
            <a:endParaRPr lang="en-US" sz="2000" dirty="0"/>
          </a:p>
        </p:txBody>
      </p:sp>
      <p:sp>
        <p:nvSpPr>
          <p:cNvPr id="56" name="Text 38"/>
          <p:cNvSpPr/>
          <p:nvPr/>
        </p:nvSpPr>
        <p:spPr>
          <a:xfrm>
            <a:off x="7470648" y="113385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1B2E"/>
                </a:solidFill>
              </a:rPr>
              <a:t>Streamlit Web App</a:t>
            </a:r>
            <a:endParaRPr lang="en-US" sz="1050" dirty="0"/>
          </a:p>
        </p:txBody>
      </p:sp>
      <p:sp>
        <p:nvSpPr>
          <p:cNvPr id="57" name="Text 39"/>
          <p:cNvSpPr/>
          <p:nvPr/>
        </p:nvSpPr>
        <p:spPr>
          <a:xfrm>
            <a:off x="6995160" y="16093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B923C"/>
                </a:solidFill>
              </a:rPr>
              <a:t>Weeks 5–6</a:t>
            </a:r>
            <a:endParaRPr lang="en-US" sz="900" dirty="0"/>
          </a:p>
        </p:txBody>
      </p:sp>
      <p:pic>
        <p:nvPicPr>
          <p:cNvPr id="5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13448" y="1938528"/>
            <a:ext cx="201168" cy="201168"/>
          </a:xfrm>
          <a:prstGeom prst="rect">
            <a:avLst/>
          </a:prstGeom>
        </p:spPr>
      </p:pic>
      <p:sp>
        <p:nvSpPr>
          <p:cNvPr id="59" name="Text 40"/>
          <p:cNvSpPr/>
          <p:nvPr/>
        </p:nvSpPr>
        <p:spPr>
          <a:xfrm>
            <a:off x="7287768" y="19385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Price Predictor tab</a:t>
            </a:r>
            <a:endParaRPr lang="en-US" sz="900" dirty="0"/>
          </a:p>
        </p:txBody>
      </p:sp>
      <p:pic>
        <p:nvPicPr>
          <p:cNvPr id="6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13448" y="2459736"/>
            <a:ext cx="201168" cy="201168"/>
          </a:xfrm>
          <a:prstGeom prst="rect">
            <a:avLst/>
          </a:prstGeom>
        </p:spPr>
      </p:pic>
      <p:sp>
        <p:nvSpPr>
          <p:cNvPr id="61" name="Text 41"/>
          <p:cNvSpPr/>
          <p:nvPr/>
        </p:nvSpPr>
        <p:spPr>
          <a:xfrm>
            <a:off x="7287768" y="245973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Market Analytics dashboard</a:t>
            </a:r>
            <a:endParaRPr lang="en-US" sz="900" dirty="0"/>
          </a:p>
        </p:txBody>
      </p:sp>
      <p:pic>
        <p:nvPicPr>
          <p:cNvPr id="6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13448" y="2980944"/>
            <a:ext cx="201168" cy="201168"/>
          </a:xfrm>
          <a:prstGeom prst="rect">
            <a:avLst/>
          </a:prstGeom>
        </p:spPr>
      </p:pic>
      <p:sp>
        <p:nvSpPr>
          <p:cNvPr id="63" name="Text 42"/>
          <p:cNvSpPr/>
          <p:nvPr/>
        </p:nvSpPr>
        <p:spPr>
          <a:xfrm>
            <a:off x="7287768" y="298094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Model Performance charts</a:t>
            </a:r>
            <a:endParaRPr lang="en-US" sz="900" dirty="0"/>
          </a:p>
        </p:txBody>
      </p:sp>
      <p:pic>
        <p:nvPicPr>
          <p:cNvPr id="64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13448" y="3502152"/>
            <a:ext cx="201168" cy="201168"/>
          </a:xfrm>
          <a:prstGeom prst="rect">
            <a:avLst/>
          </a:prstGeom>
        </p:spPr>
      </p:pic>
      <p:sp>
        <p:nvSpPr>
          <p:cNvPr id="65" name="Text 43"/>
          <p:cNvSpPr/>
          <p:nvPr/>
        </p:nvSpPr>
        <p:spPr>
          <a:xfrm>
            <a:off x="7287768" y="35021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Dataset Overview tab</a:t>
            </a:r>
            <a:endParaRPr lang="en-US" sz="900" dirty="0"/>
          </a:p>
        </p:txBody>
      </p:sp>
      <p:pic>
        <p:nvPicPr>
          <p:cNvPr id="6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13448" y="4023360"/>
            <a:ext cx="201168" cy="201168"/>
          </a:xfrm>
          <a:prstGeom prst="rect">
            <a:avLst/>
          </a:prstGeom>
        </p:spPr>
      </p:pic>
      <p:sp>
        <p:nvSpPr>
          <p:cNvPr id="67" name="Text 44"/>
          <p:cNvSpPr/>
          <p:nvPr/>
        </p:nvSpPr>
        <p:spPr>
          <a:xfrm>
            <a:off x="7287768" y="4023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Run: streamlit run src/app.py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Results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5156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486400" y="1051560"/>
          <a:ext cx="34747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274320" y="4572000"/>
            <a:ext cx="8595360" cy="4572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617720"/>
            <a:ext cx="347472" cy="34747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22960" y="46177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🏆  Best Model: XGBoost  |  R² = 0.8986  |  Accuracy = 88.19%  |  RMSE = $106,261  |  MAE = $64,133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Top Feature Importances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51560"/>
          <a:ext cx="594360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492240" y="1097280"/>
            <a:ext cx="2468880" cy="118872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492240" y="1097280"/>
            <a:ext cx="64008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675120" y="11521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#1 Driver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675120" y="146304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grade_condition_score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675120" y="17556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Quality × Condition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492240" y="2487168"/>
            <a:ext cx="2468880" cy="118872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92240" y="2487168"/>
            <a:ext cx="64008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75120" y="25420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Area Matters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675120" y="28529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sqft_living / total_area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675120" y="31455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18.5% combined weight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492240" y="3877056"/>
            <a:ext cx="2468880" cy="118872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92240" y="3877056"/>
            <a:ext cx="64008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675120" y="3931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Luxury Flag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675120" y="42428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is_luxury feature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675120" y="45354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Grade≥10 &amp; Size≥3000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Code Snippets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28600" y="1051560"/>
            <a:ext cx="4206240" cy="196596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1097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data_preprocessing.py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" y="1417320"/>
            <a:ext cx="4023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Merge all 8 datasets</a:t>
            </a:r>
            <a:endParaRPr lang="en-US" sz="950" dirty="0"/>
          </a:p>
          <a:p>
            <a:pPr indent="0" marL="0">
              <a:buNone/>
            </a:pPr>
            <a:r>
              <a:rPr lang="en-US" sz="950" spc="2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pd.concat([df_india,</a:t>
            </a:r>
            <a:endParaRPr lang="en-US" sz="950" dirty="0"/>
          </a:p>
          <a:p>
            <a:pPr indent="0" marL="0">
              <a:buNone/>
            </a:pPr>
            <a:r>
              <a:rPr lang="en-US" sz="950" spc="2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df_houses, df_housing])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spc="2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 engineering</a:t>
            </a:r>
            <a:endParaRPr lang="en-US" sz="950" dirty="0"/>
          </a:p>
          <a:p>
            <a:pPr indent="0" marL="0">
              <a:buNone/>
            </a:pPr>
            <a:r>
              <a:rPr lang="en-US" sz="950" spc="2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df['house_age'] = sale_yr - yr_built</a:t>
            </a:r>
            <a:endParaRPr lang="en-US" sz="950" dirty="0"/>
          </a:p>
          <a:p>
            <a:pPr indent="0" marL="0">
              <a:buNone/>
            </a:pPr>
            <a:r>
              <a:rPr lang="en-US" sz="950" spc="2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df['is_luxury'] = (grade&gt;=10) &amp;</a:t>
            </a:r>
            <a:endParaRPr lang="en-US" sz="950" dirty="0"/>
          </a:p>
          <a:p>
            <a:pPr indent="0" marL="0">
              <a:buNone/>
            </a:pPr>
            <a:r>
              <a:rPr lang="en-US" sz="950" spc="2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(sqft_living&gt;=3000)</a:t>
            </a:r>
            <a:endParaRPr lang="en-US" sz="950" dirty="0"/>
          </a:p>
          <a:p>
            <a:pPr indent="0" marL="0">
              <a:buNone/>
            </a:pPr>
            <a:r>
              <a:rPr lang="en-US" sz="950" spc="2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df['grade_condition_score'] =</a:t>
            </a:r>
            <a:endParaRPr lang="en-US" sz="950" dirty="0"/>
          </a:p>
          <a:p>
            <a:pPr indent="0" marL="0">
              <a:buNone/>
            </a:pPr>
            <a:r>
              <a:rPr lang="en-US" sz="950" spc="2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grade * condition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709160" y="1051560"/>
            <a:ext cx="4206240" cy="196596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00600" y="10972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model_training.py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00600" y="1417320"/>
            <a:ext cx="4023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" kern="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XGBoost — best accuracy</a:t>
            </a:r>
            <a:endParaRPr lang="en-US" sz="950" dirty="0"/>
          </a:p>
          <a:p>
            <a:pPr indent="0" marL="0">
              <a:buNone/>
            </a:pPr>
            <a:r>
              <a:rPr lang="en-US" sz="950" spc="20" kern="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xgb.XGBRegressor(</a:t>
            </a:r>
            <a:endParaRPr lang="en-US" sz="950" dirty="0"/>
          </a:p>
          <a:p>
            <a:pPr indent="0" marL="0">
              <a:buNone/>
            </a:pPr>
            <a:r>
              <a:rPr lang="en-US" sz="950" spc="20" kern="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n_estimators=500,</a:t>
            </a:r>
            <a:endParaRPr lang="en-US" sz="950" dirty="0"/>
          </a:p>
          <a:p>
            <a:pPr indent="0" marL="0">
              <a:buNone/>
            </a:pPr>
            <a:r>
              <a:rPr lang="en-US" sz="950" spc="20" kern="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max_depth=7,</a:t>
            </a:r>
            <a:endParaRPr lang="en-US" sz="950" dirty="0"/>
          </a:p>
          <a:p>
            <a:pPr indent="0" marL="0">
              <a:buNone/>
            </a:pPr>
            <a:r>
              <a:rPr lang="en-US" sz="950" spc="20" kern="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learning_rate=0.05,</a:t>
            </a:r>
            <a:endParaRPr lang="en-US" sz="950" dirty="0"/>
          </a:p>
          <a:p>
            <a:pPr indent="0" marL="0">
              <a:buNone/>
            </a:pPr>
            <a:r>
              <a:rPr lang="en-US" sz="950" spc="20" kern="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subsample=0.8)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spc="20" kern="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Log-transform price</a:t>
            </a:r>
            <a:endParaRPr lang="en-US" sz="950" dirty="0"/>
          </a:p>
          <a:p>
            <a:pPr indent="0" marL="0">
              <a:buNone/>
            </a:pPr>
            <a:r>
              <a:rPr lang="en-US" sz="950" spc="20" kern="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np.log1p(df['price'])</a:t>
            </a:r>
            <a:endParaRPr lang="en-US" sz="950" dirty="0"/>
          </a:p>
          <a:p>
            <a:pPr indent="0" marL="0">
              <a:buNone/>
            </a:pPr>
            <a:r>
              <a:rPr lang="en-US" sz="950" spc="20" kern="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28600" y="3246120"/>
            <a:ext cx="8686800" cy="160020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0040" y="3291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src/app.py  —  Streamlit Predictor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0040" y="361188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" kern="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pred_log = model.predict(X_input)[0]         # predict in log-space</a:t>
            </a:r>
            <a:endParaRPr lang="en-US" sz="1000" dirty="0"/>
          </a:p>
          <a:p>
            <a:pPr indent="0" marL="0">
              <a:buNone/>
            </a:pPr>
            <a:r>
              <a:rPr lang="en-US" sz="1000" spc="20" kern="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pred_price = np.expm1(pred_log)               # convert back to price</a:t>
            </a:r>
            <a:endParaRPr lang="en-US" sz="1000" dirty="0"/>
          </a:p>
          <a:p>
            <a:pPr indent="0" marL="0">
              <a:buNone/>
            </a:pPr>
            <a:r>
              <a:rPr lang="en-US" sz="1000" spc="20" kern="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st.markdown(f'Estimated Price: ${pred_price:,.0f}')   # display in UI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Application — 4 Tabs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182880" y="1097280"/>
            <a:ext cx="4206240" cy="173736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82880" y="1097280"/>
            <a:ext cx="420624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133856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" y="1152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2E"/>
                </a:solidFill>
              </a:rPr>
              <a:t>Price Predictor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572768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8640" y="1572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Input 20+ property details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1819656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8640" y="18196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Get instant price estimate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2066544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48640" y="20665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Confidence range ±10%</a:t>
            </a:r>
            <a:endParaRPr lang="en-US" sz="9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08" y="2313432"/>
            <a:ext cx="182880" cy="1828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48640" y="2313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Price gauge visualization</a:t>
            </a:r>
            <a:endParaRPr lang="en-US" sz="9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608" y="2560320"/>
            <a:ext cx="182880" cy="18288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48640" y="2560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Percentile in market</a:t>
            </a:r>
            <a:endParaRPr lang="en-US" sz="950" dirty="0"/>
          </a:p>
        </p:txBody>
      </p:sp>
      <p:sp>
        <p:nvSpPr>
          <p:cNvPr id="19" name="Shape 10"/>
          <p:cNvSpPr/>
          <p:nvPr/>
        </p:nvSpPr>
        <p:spPr>
          <a:xfrm>
            <a:off x="4754880" y="1097280"/>
            <a:ext cx="4206240" cy="173736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1"/>
          <p:cNvSpPr/>
          <p:nvPr/>
        </p:nvSpPr>
        <p:spPr>
          <a:xfrm>
            <a:off x="4754880" y="1097280"/>
            <a:ext cx="4206240" cy="38404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8032" y="1133856"/>
            <a:ext cx="310896" cy="310896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230368" y="11521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2E"/>
                </a:solidFill>
              </a:rPr>
              <a:t>Market Analytics</a:t>
            </a:r>
            <a:endParaRPr lang="en-US" sz="12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4608" y="1572768"/>
            <a:ext cx="182880" cy="182880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120640" y="15727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Price distribution histogram</a:t>
            </a:r>
            <a:endParaRPr lang="en-US" sz="95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4608" y="1819656"/>
            <a:ext cx="182880" cy="182880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120640" y="18196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Median price by grade</a:t>
            </a:r>
            <a:endParaRPr lang="en-US" sz="950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4608" y="2066544"/>
            <a:ext cx="182880" cy="182880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5120640" y="20665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Price vs living area scatter</a:t>
            </a:r>
            <a:endParaRPr lang="en-US" sz="950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64608" y="2313432"/>
            <a:ext cx="182880" cy="182880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120640" y="2313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Price trend by year</a:t>
            </a:r>
            <a:endParaRPr lang="en-US" sz="950" dirty="0"/>
          </a:p>
        </p:txBody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64608" y="2560320"/>
            <a:ext cx="182880" cy="182880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5120640" y="2560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Feature correlation heatmap</a:t>
            </a:r>
            <a:endParaRPr lang="en-US" sz="950" dirty="0"/>
          </a:p>
        </p:txBody>
      </p:sp>
      <p:sp>
        <p:nvSpPr>
          <p:cNvPr id="33" name="Shape 18"/>
          <p:cNvSpPr/>
          <p:nvPr/>
        </p:nvSpPr>
        <p:spPr>
          <a:xfrm>
            <a:off x="182880" y="3017520"/>
            <a:ext cx="4206240" cy="173736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19"/>
          <p:cNvSpPr/>
          <p:nvPr/>
        </p:nvSpPr>
        <p:spPr>
          <a:xfrm>
            <a:off x="182880" y="3017520"/>
            <a:ext cx="4206240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6032" y="3054096"/>
            <a:ext cx="310896" cy="310896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658368" y="3072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2E"/>
                </a:solidFill>
              </a:rPr>
              <a:t>Model Performance</a:t>
            </a:r>
            <a:endParaRPr lang="en-US" sz="1200" dirty="0"/>
          </a:p>
        </p:txBody>
      </p:sp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2608" y="3493008"/>
            <a:ext cx="182880" cy="182880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548640" y="34930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4-model comparison table</a:t>
            </a:r>
            <a:endParaRPr lang="en-US" sz="950" dirty="0"/>
          </a:p>
        </p:txBody>
      </p:sp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2608" y="3739896"/>
            <a:ext cx="182880" cy="182880"/>
          </a:xfrm>
          <a:prstGeom prst="rect">
            <a:avLst/>
          </a:prstGeom>
        </p:spPr>
      </p:pic>
      <p:sp>
        <p:nvSpPr>
          <p:cNvPr id="40" name="Text 22"/>
          <p:cNvSpPr/>
          <p:nvPr/>
        </p:nvSpPr>
        <p:spPr>
          <a:xfrm>
            <a:off x="548640" y="37398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R² bar chart</a:t>
            </a:r>
            <a:endParaRPr lang="en-US" sz="950" dirty="0"/>
          </a:p>
        </p:txBody>
      </p:sp>
      <p:pic>
        <p:nvPicPr>
          <p:cNvPr id="4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2608" y="3986784"/>
            <a:ext cx="182880" cy="182880"/>
          </a:xfrm>
          <a:prstGeom prst="rect">
            <a:avLst/>
          </a:prstGeom>
        </p:spPr>
      </p:pic>
      <p:sp>
        <p:nvSpPr>
          <p:cNvPr id="42" name="Text 23"/>
          <p:cNvSpPr/>
          <p:nvPr/>
        </p:nvSpPr>
        <p:spPr>
          <a:xfrm>
            <a:off x="548640" y="39867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Feature importance chart</a:t>
            </a:r>
            <a:endParaRPr lang="en-US" sz="950" dirty="0"/>
          </a:p>
        </p:txBody>
      </p:sp>
      <p:pic>
        <p:nvPicPr>
          <p:cNvPr id="4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2608" y="4233672"/>
            <a:ext cx="182880" cy="182880"/>
          </a:xfrm>
          <a:prstGeom prst="rect">
            <a:avLst/>
          </a:prstGeom>
        </p:spPr>
      </p:pic>
      <p:sp>
        <p:nvSpPr>
          <p:cNvPr id="44" name="Text 24"/>
          <p:cNvSpPr/>
          <p:nvPr/>
        </p:nvSpPr>
        <p:spPr>
          <a:xfrm>
            <a:off x="548640" y="42336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Actual vs predicted scatter</a:t>
            </a:r>
            <a:endParaRPr lang="en-US" sz="950" dirty="0"/>
          </a:p>
        </p:txBody>
      </p:sp>
      <p:pic>
        <p:nvPicPr>
          <p:cNvPr id="4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92608" y="4480560"/>
            <a:ext cx="182880" cy="182880"/>
          </a:xfrm>
          <a:prstGeom prst="rect">
            <a:avLst/>
          </a:prstGeom>
        </p:spPr>
      </p:pic>
      <p:sp>
        <p:nvSpPr>
          <p:cNvPr id="46" name="Text 25"/>
          <p:cNvSpPr/>
          <p:nvPr/>
        </p:nvSpPr>
        <p:spPr>
          <a:xfrm>
            <a:off x="548640" y="44805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Training/test metrics</a:t>
            </a:r>
            <a:endParaRPr lang="en-US" sz="950" dirty="0"/>
          </a:p>
        </p:txBody>
      </p:sp>
      <p:sp>
        <p:nvSpPr>
          <p:cNvPr id="47" name="Shape 26"/>
          <p:cNvSpPr/>
          <p:nvPr/>
        </p:nvSpPr>
        <p:spPr>
          <a:xfrm>
            <a:off x="4754880" y="3017520"/>
            <a:ext cx="4206240" cy="173736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8" name="Shape 27"/>
          <p:cNvSpPr/>
          <p:nvPr/>
        </p:nvSpPr>
        <p:spPr>
          <a:xfrm>
            <a:off x="4754880" y="3017520"/>
            <a:ext cx="4206240" cy="3840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4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28032" y="3054096"/>
            <a:ext cx="310896" cy="310896"/>
          </a:xfrm>
          <a:prstGeom prst="rect">
            <a:avLst/>
          </a:prstGeom>
        </p:spPr>
      </p:pic>
      <p:sp>
        <p:nvSpPr>
          <p:cNvPr id="50" name="Text 28"/>
          <p:cNvSpPr/>
          <p:nvPr/>
        </p:nvSpPr>
        <p:spPr>
          <a:xfrm>
            <a:off x="5230368" y="3072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2E"/>
                </a:solidFill>
              </a:rPr>
              <a:t>Dataset Overview</a:t>
            </a:r>
            <a:endParaRPr lang="en-US" sz="1200" dirty="0"/>
          </a:p>
        </p:txBody>
      </p:sp>
      <p:pic>
        <p:nvPicPr>
          <p:cNvPr id="5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64608" y="3493008"/>
            <a:ext cx="182880" cy="182880"/>
          </a:xfrm>
          <a:prstGeom prst="rect">
            <a:avLst/>
          </a:prstGeom>
        </p:spPr>
      </p:pic>
      <p:sp>
        <p:nvSpPr>
          <p:cNvPr id="52" name="Text 29"/>
          <p:cNvSpPr/>
          <p:nvPr/>
        </p:nvSpPr>
        <p:spPr>
          <a:xfrm>
            <a:off x="5120640" y="34930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8 datasets info table</a:t>
            </a:r>
            <a:endParaRPr lang="en-US" sz="950" dirty="0"/>
          </a:p>
        </p:txBody>
      </p:sp>
      <p:pic>
        <p:nvPicPr>
          <p:cNvPr id="5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64608" y="3739896"/>
            <a:ext cx="182880" cy="182880"/>
          </a:xfrm>
          <a:prstGeom prst="rect">
            <a:avLst/>
          </a:prstGeom>
        </p:spPr>
      </p:pic>
      <p:sp>
        <p:nvSpPr>
          <p:cNvPr id="54" name="Text 30"/>
          <p:cNvSpPr/>
          <p:nvPr/>
        </p:nvSpPr>
        <p:spPr>
          <a:xfrm>
            <a:off x="5120640" y="37398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Sample processed data</a:t>
            </a:r>
            <a:endParaRPr lang="en-US" sz="950" dirty="0"/>
          </a:p>
        </p:txBody>
      </p:sp>
      <p:pic>
        <p:nvPicPr>
          <p:cNvPr id="55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64608" y="3986784"/>
            <a:ext cx="182880" cy="182880"/>
          </a:xfrm>
          <a:prstGeom prst="rect">
            <a:avLst/>
          </a:prstGeom>
        </p:spPr>
      </p:pic>
      <p:sp>
        <p:nvSpPr>
          <p:cNvPr id="56" name="Text 31"/>
          <p:cNvSpPr/>
          <p:nvPr/>
        </p:nvSpPr>
        <p:spPr>
          <a:xfrm>
            <a:off x="5120640" y="39867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Feature engineering guide</a:t>
            </a:r>
            <a:endParaRPr lang="en-US" sz="950" dirty="0"/>
          </a:p>
        </p:txBody>
      </p:sp>
      <p:pic>
        <p:nvPicPr>
          <p:cNvPr id="5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64608" y="4233672"/>
            <a:ext cx="182880" cy="182880"/>
          </a:xfrm>
          <a:prstGeom prst="rect">
            <a:avLst/>
          </a:prstGeom>
        </p:spPr>
      </p:pic>
      <p:sp>
        <p:nvSpPr>
          <p:cNvPr id="58" name="Text 32"/>
          <p:cNvSpPr/>
          <p:nvPr/>
        </p:nvSpPr>
        <p:spPr>
          <a:xfrm>
            <a:off x="5120640" y="42336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Column descriptions</a:t>
            </a:r>
            <a:endParaRPr lang="en-US" sz="950" dirty="0"/>
          </a:p>
        </p:txBody>
      </p:sp>
      <p:pic>
        <p:nvPicPr>
          <p:cNvPr id="59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864608" y="4480560"/>
            <a:ext cx="182880" cy="182880"/>
          </a:xfrm>
          <a:prstGeom prst="rect">
            <a:avLst/>
          </a:prstGeom>
        </p:spPr>
      </p:pic>
      <p:sp>
        <p:nvSpPr>
          <p:cNvPr id="60" name="Text 33"/>
          <p:cNvSpPr/>
          <p:nvPr/>
        </p:nvSpPr>
        <p:spPr>
          <a:xfrm>
            <a:off x="5120640" y="44805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22,180 total samples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— VS Code Setup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28600" y="1051560"/>
            <a:ext cx="4023360" cy="384048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Project Structure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20040" y="146304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real_estate_valuation/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data/          ← 8 CSV files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src/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data_preprocessing.py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eda.py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├── model_training.py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└── app.py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models/        ← auto-generated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main.py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requirements.txt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README.md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480560" y="1051560"/>
            <a:ext cx="4434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80560" y="1161288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80560" y="1161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83480" y="1106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Install Dependencies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983480" y="1362456"/>
            <a:ext cx="3794760" cy="237744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47488" y="13624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480560" y="1801368"/>
            <a:ext cx="4434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80560" y="1911096"/>
            <a:ext cx="411480" cy="41148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80560" y="1911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83480" y="18562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Preprocess Data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983480" y="2112264"/>
            <a:ext cx="3794760" cy="237744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47488" y="21122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--step 1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480560" y="2551176"/>
            <a:ext cx="4434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480560" y="2660904"/>
            <a:ext cx="411480" cy="4114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8056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983480" y="2606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Run EDA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983480" y="2862072"/>
            <a:ext cx="3794760" cy="237744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47488" y="28620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--step 2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480560" y="3300984"/>
            <a:ext cx="4434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480560" y="3410712"/>
            <a:ext cx="411480" cy="41148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80560" y="3410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983480" y="3355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Train Models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983480" y="3611880"/>
            <a:ext cx="3794760" cy="237744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047488" y="3611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--step 3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480560" y="4050792"/>
            <a:ext cx="4434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480560" y="416052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48056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4983480" y="41056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Launch Web App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4983480" y="4361688"/>
            <a:ext cx="3794760" cy="237744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47488" y="43616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src/app.py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143000"/>
            <a:ext cx="2743200" cy="160020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143000"/>
            <a:ext cx="27432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3075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</a:rPr>
              <a:t>88.19%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365760" y="2011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XGBoost Accuracy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2313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Best model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1143000"/>
            <a:ext cx="2743200" cy="160020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143000"/>
            <a:ext cx="27432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13075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</a:rPr>
              <a:t>0.8986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3337560" y="2011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R² Score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37560" y="2313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Excellent fit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17920" y="1143000"/>
            <a:ext cx="2743200" cy="160020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17920" y="1143000"/>
            <a:ext cx="2743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3075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78BFA"/>
                </a:solidFill>
              </a:rPr>
              <a:t>$106K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6309360" y="2011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RMSE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309360" y="2313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Root Mean Sq Error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3017520"/>
            <a:ext cx="2743200" cy="160020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74320" y="3017520"/>
            <a:ext cx="274320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11480" y="31821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B923C"/>
                </a:solidFill>
              </a:rPr>
              <a:t>22,180</a:t>
            </a:r>
            <a:endParaRPr lang="en-US" sz="3400" dirty="0"/>
          </a:p>
        </p:txBody>
      </p:sp>
      <p:sp>
        <p:nvSpPr>
          <p:cNvPr id="23" name="Text 20"/>
          <p:cNvSpPr/>
          <p:nvPr/>
        </p:nvSpPr>
        <p:spPr>
          <a:xfrm>
            <a:off x="365760" y="3886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Training Samples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65760" y="4187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After deduplication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246120" y="3017520"/>
            <a:ext cx="2743200" cy="160020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46120" y="3017520"/>
            <a:ext cx="274320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83280" y="31821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</a:rPr>
              <a:t>41</a:t>
            </a:r>
            <a:endParaRPr lang="en-US" sz="3400" dirty="0"/>
          </a:p>
        </p:txBody>
      </p:sp>
      <p:sp>
        <p:nvSpPr>
          <p:cNvPr id="28" name="Text 25"/>
          <p:cNvSpPr/>
          <p:nvPr/>
        </p:nvSpPr>
        <p:spPr>
          <a:xfrm>
            <a:off x="3337560" y="3886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Features Used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337560" y="4187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After engineering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217920" y="3017520"/>
            <a:ext cx="2743200" cy="1600200"/>
          </a:xfrm>
          <a:prstGeom prst="rect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217920" y="3017520"/>
            <a:ext cx="27432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55080" y="31821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8</a:t>
            </a:r>
            <a:endParaRPr lang="en-US" sz="3400" dirty="0"/>
          </a:p>
        </p:txBody>
      </p:sp>
      <p:sp>
        <p:nvSpPr>
          <p:cNvPr id="33" name="Text 30"/>
          <p:cNvSpPr/>
          <p:nvPr/>
        </p:nvSpPr>
        <p:spPr>
          <a:xfrm>
            <a:off x="6309360" y="38862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Datasets Merged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309360" y="41879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India + Global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1097280"/>
            <a:ext cx="2286000" cy="2286000"/>
          </a:xfrm>
          <a:prstGeom prst="ellipse">
            <a:avLst/>
          </a:prstGeom>
          <a:solidFill>
            <a:srgbClr val="0A3D56"/>
          </a:solidFill>
          <a:ln w="12700">
            <a:solidFill>
              <a:srgbClr val="0A3D5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0876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657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spc="400" kern="0" dirty="0">
                <a:solidFill>
                  <a:srgbClr val="02C39A"/>
                </a:solidFill>
              </a:rPr>
              <a:t>THANK YOU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82880" y="4206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Real Estate AI Team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840480" y="822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Real Estate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840480" y="13716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System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840480" y="2011680"/>
            <a:ext cx="493776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 8 Datasets integrated end-to-end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0" y="26334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 41 engineered features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40480" y="30723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 XGBoost — 88.19% accuracy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840480" y="35112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 Full Streamlit web application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840480" y="3950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  India + Global market intelligence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840480" y="45720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src/app.py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Real Estate Valuation System</dc:title>
  <dc:subject>PptxGenJS Presentation</dc:subject>
  <dc:creator>Real Estate AI Team</dc:creator>
  <cp:lastModifiedBy>Real Estate AI Team</cp:lastModifiedBy>
  <cp:revision>1</cp:revision>
  <dcterms:created xsi:type="dcterms:W3CDTF">2026-03-16T04:27:37Z</dcterms:created>
  <dcterms:modified xsi:type="dcterms:W3CDTF">2026-03-16T04:27:37Z</dcterms:modified>
</cp:coreProperties>
</file>